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0" y="2103120"/>
            <a:ext cx="13716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6576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BBD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9BBDD"/>
                </a:solidFill>
                <a:latin typeface="Calibri"/>
                <a:ea typeface="Calibri"/>
                <a:cs typeface="Calibri"/>
                <a:sym typeface="Calibri"/>
              </a:rPr>
              <a:t>SE407 – Software Quality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777240"/>
            <a:ext cx="7315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Governance-Oriented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for Software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32004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BBEE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88BBEE"/>
                </a:solidFill>
                <a:latin typeface="Calibri"/>
                <a:ea typeface="Calibri"/>
                <a:cs typeface="Calibri"/>
                <a:sym typeface="Calibri"/>
              </a:rPr>
              <a:t>in Digitally Transforming Enterprises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3703320"/>
            <a:ext cx="7132320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65760" y="3794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Mirza Abdulahovic (220302176)  ·  Elhan Mahmutovic (220302161)  ·  Adnan Musanovic (220302237)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Mustafa Sinanovic (220302170)  ·  Belmir Grahic (220302173)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4572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International University of Sarajevo  |  2024–2025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" y="1005840"/>
            <a:ext cx="4160520" cy="105156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" y="1005840"/>
            <a:ext cx="502920" cy="1051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38328" y="129844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14400" y="109728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Problem Context &amp; Research Motivation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" y="2240280"/>
            <a:ext cx="4160520" cy="105156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0040" y="2240280"/>
            <a:ext cx="502920" cy="1051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38328" y="253288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14400" y="233172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Literature Review &amp; Related 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" y="3474720"/>
            <a:ext cx="4160520" cy="105156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3474720"/>
            <a:ext cx="502920" cy="1051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38328" y="376732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4400" y="356616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GoF-SQA Framework Architecture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754880" y="1005840"/>
            <a:ext cx="4160520" cy="105156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754880" y="1005840"/>
            <a:ext cx="502920" cy="1051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773168" y="129844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349240" y="109728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Quality Metrics &amp; Evaluation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54880" y="2240280"/>
            <a:ext cx="4160520" cy="105156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754880" y="2240280"/>
            <a:ext cx="502920" cy="1051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73168" y="253288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349240" y="233172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Implementation Roadmap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754880" y="3474720"/>
            <a:ext cx="4160520" cy="105156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754880" y="3474720"/>
            <a:ext cx="502920" cy="1051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773168" y="376732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349240" y="356616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Discussion, Limitations &amp; Conclusion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Context &amp; Research Motivation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20040" y="960120"/>
            <a:ext cx="5029200" cy="114300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38100" rotWithShape="0" algn="bl" dir="8100000" dist="25400">
              <a:srgbClr val="BBBBB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20040" y="960120"/>
            <a:ext cx="73152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02920" y="103327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Governance Gaps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1307592"/>
            <a:ext cx="4754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DevOps velocity outpaces traditional quality controls; waterfall-era frameworks (ISO 9001, CMMI) don't address ephemeral cloud infrastructure.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0040" y="2240280"/>
            <a:ext cx="5029200" cy="114300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38100" rotWithShape="0" algn="bl" dir="8100000" dist="25400">
              <a:srgbClr val="BBBBB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20040" y="2240280"/>
            <a:ext cx="73152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02920" y="2313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Secrets Sprawl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02920" y="2587752"/>
            <a:ext cx="4754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Build pipelines, APIs, and microservices multiply credentials. 75% of orgs reported a secrets-related incident in 2023 (HashiCorp).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" y="3520440"/>
            <a:ext cx="5029200" cy="114300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38100" rotWithShape="0" algn="bl" dir="8100000" dist="25400">
              <a:srgbClr val="BBBBB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0040" y="3520440"/>
            <a:ext cx="73152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359359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Audit Deficiency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3867912"/>
            <a:ext cx="4754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Manual compliance evidence collection takes days-to-weeks. Automated delivery pipelines require automated governance artifacts.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577840" y="960120"/>
            <a:ext cx="3200400" cy="1645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577840" y="109728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577840" y="19202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BBEE"/>
                </a:solidFill>
                <a:latin typeface="Calibri"/>
                <a:ea typeface="Calibri"/>
                <a:cs typeface="Calibri"/>
                <a:sym typeface="Calibri"/>
              </a:rPr>
              <a:t>of organizations experienced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BBEE"/>
                </a:solidFill>
                <a:latin typeface="Calibri"/>
                <a:ea typeface="Calibri"/>
                <a:cs typeface="Calibri"/>
                <a:sym typeface="Calibri"/>
              </a:rPr>
              <a:t>a secrets-related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BBEE"/>
                </a:solidFill>
                <a:latin typeface="Calibri"/>
                <a:ea typeface="Calibri"/>
                <a:cs typeface="Calibri"/>
                <a:sym typeface="Calibri"/>
              </a:rPr>
              <a:t>incident in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577840" y="2834640"/>
            <a:ext cx="3200400" cy="16459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577840" y="29260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Research Goal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669280" y="32918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Design a governance-oriented framework (GoF-SQA) that embeds identity &amp; secrets governance as measurable quality engineering controls.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 &amp; Related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20040" y="914400"/>
            <a:ext cx="8503920" cy="7315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20040" y="914400"/>
            <a:ext cx="6400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75488" y="96012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Forsgren et al. (2018) — Accelerate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75488" y="1216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Elite DevOps teams are defined by stability &amp; reliability, not only speed. Governance-dependent quality is a key differentiator.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20040" y="1737360"/>
            <a:ext cx="8503920" cy="73152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20040" y="1737360"/>
            <a:ext cx="6400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75488" y="178308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NIST SP 800-204C (2022)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75488" y="203911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Establishes secrets management and identity governance as prerequisites for hardened CI/CD pipelines in cloud-native deployments.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20040" y="2560320"/>
            <a:ext cx="8503920" cy="7315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20040" y="2560320"/>
            <a:ext cx="6400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75488" y="260604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Hendrickson et al. (2020)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75488" y="286207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Policy-as-code adoption reduces mean time to compliance evidence from weeks to hours across large-scale infrastructure.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20040" y="3383280"/>
            <a:ext cx="8503920" cy="73152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20040" y="3383280"/>
            <a:ext cx="6400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75488" y="34290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Sousa et al.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75488" y="36850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Automated policy enforcement reduces policy drift by up to 60% vs. manual governance in multi-cloud environments.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11480" y="4352544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Gap: Integration of secrets governance into sprint-level quality indicators remains underexplored in academic literature.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GoF-SQA Framework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11480" y="98755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11480" y="126187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&amp; Access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834640" y="1024128"/>
            <a:ext cx="27432" cy="640080"/>
          </a:xfrm>
          <a:prstGeom prst="rect">
            <a:avLst/>
          </a:prstGeom>
          <a:solidFill>
            <a:srgbClr val="AA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2971800" y="1005840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RBAC as code, ephemeral build identities, least-privilege enforcement, MFA for privileged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20040" y="1920240"/>
            <a:ext cx="8503920" cy="86868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11480" y="199339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11480" y="226771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Secrets Lifecycle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834640" y="2029968"/>
            <a:ext cx="27432" cy="640080"/>
          </a:xfrm>
          <a:prstGeom prst="rect">
            <a:avLst/>
          </a:prstGeom>
          <a:solidFill>
            <a:srgbClr val="AA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971800" y="2011680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Centralized vault, dynamic secrets, mandatory rotation policy (≤90 days), signed deployments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20040" y="2926080"/>
            <a:ext cx="8503920" cy="86868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11480" y="299923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11480" y="327355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 Enforcement &amp; Automation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834640" y="3035808"/>
            <a:ext cx="27432" cy="640080"/>
          </a:xfrm>
          <a:prstGeom prst="rect">
            <a:avLst/>
          </a:prstGeom>
          <a:solidFill>
            <a:srgbClr val="AA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971800" y="3017520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Policy-as-code (OPA / Sentinel), pre-commit + CI + CD + runtime gates, drift reconciliation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11480" y="400507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11480" y="427939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Evidence &amp; Observability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2834640" y="4041648"/>
            <a:ext cx="27432" cy="640080"/>
          </a:xfrm>
          <a:prstGeom prst="rect">
            <a:avLst/>
          </a:prstGeom>
          <a:solidFill>
            <a:srgbClr val="AA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2971800" y="4023360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Structured tamper-evident logs, SOC 2 / ISO 27001 aligned, real-time governance dashboards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20040" y="4825096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layer is designed to produce governance-related artifacts that can contribute to the Governance Quality Index (GQI)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 – Design Science Research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20040" y="1005840"/>
            <a:ext cx="1600200" cy="13716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20040" y="1005840"/>
            <a:ext cx="16002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365760" y="10058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40080" y="1005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93192" y="1408176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Governance gaps in digitally transforming orgs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920240" y="1600200"/>
            <a:ext cx="11887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039112" y="1005840"/>
            <a:ext cx="1600200" cy="13716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039112" y="1005840"/>
            <a:ext cx="16002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2084832" y="10058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359152" y="1005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Definition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112264" y="1408176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Measurable, automatable governance framework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639312" y="1600200"/>
            <a:ext cx="11887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758184" y="1005840"/>
            <a:ext cx="1600200" cy="13716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758184" y="1005840"/>
            <a:ext cx="16002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803904" y="10058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078224" y="1005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Design</a:t>
            </a:r>
            <a:endParaRPr b="1" sz="9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831336" y="1408176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4-layer GoF-SQA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358384" y="1600200"/>
            <a:ext cx="11887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477256" y="1005840"/>
            <a:ext cx="1600200" cy="13716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477256" y="1005840"/>
            <a:ext cx="16002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522976" y="10058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797296" y="1005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Scenario-Based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550408" y="1408176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Scenario analysis &amp; metric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077456" y="1600200"/>
            <a:ext cx="11887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7196328" y="1005840"/>
            <a:ext cx="1600200" cy="13716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196328" y="1005840"/>
            <a:ext cx="16002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7242048" y="10058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516368" y="1005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Assessment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269480" y="1408176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Discussion of the proposed GQI model against defined criteria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20040" y="256032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Framework Design Decisions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20040" y="2971800"/>
            <a:ext cx="2788920" cy="169164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20040" y="2971800"/>
            <a:ext cx="278892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11480" y="30906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Modular Adoption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11480" y="3456432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Organizations can implement each layer independently based on maturity level, avoiding big-bang governance deployments.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246120" y="2971800"/>
            <a:ext cx="2788920" cy="169164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246120" y="2971800"/>
            <a:ext cx="278892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337560" y="30906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Engineering Alignment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337560" y="3456432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Governance controls are version-controlled code artifacts, reviewed and deployed using the same tools as application software.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172200" y="2971800"/>
            <a:ext cx="2788920" cy="1691640"/>
          </a:xfrm>
          <a:prstGeom prst="rect">
            <a:avLst/>
          </a:prstGeom>
          <a:solidFill>
            <a:srgbClr val="E8F0FB"/>
          </a:solidFill>
          <a:ln>
            <a:noFill/>
          </a:ln>
          <a:effectLst>
            <a:outerShdw blurRad="50800" rotWithShape="0" algn="bl" dir="8100000" dist="25400">
              <a:srgbClr val="BBBBBB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172200" y="2971800"/>
            <a:ext cx="278892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263640" y="30906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Dual-Purpose Artifacts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263640" y="3456432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Audit evidence and sprint quality signals are produced from the same logging infrastructure, eliminating duplicated effort.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Metrics &amp; Evaluation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11480" y="950976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Abbrev.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188720" y="950976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 Name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577840" y="95097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406640" y="95097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GQI Weight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20040" y="1298448"/>
            <a:ext cx="8503920" cy="5212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11480" y="140817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PVRS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188720" y="140817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Policy Violation Rate per Sprint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577840" y="140817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&lt; 2 / 100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406640" y="1463040"/>
            <a:ext cx="274320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726680" y="14081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20040" y="1874520"/>
            <a:ext cx="8503920" cy="521208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11480" y="19842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TTAE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188720" y="198424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Time-to-Audit-Evidence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577840" y="198424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&lt; 4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406640" y="2039112"/>
            <a:ext cx="205740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658100" y="19842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20040" y="2450592"/>
            <a:ext cx="8503920" cy="5212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11480" y="256032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UAAR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88720" y="25603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Unauthorized Access Attempt 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57784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Trend 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406640" y="2615184"/>
            <a:ext cx="205740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7658100" y="2560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20040" y="3026664"/>
            <a:ext cx="8503920" cy="521208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11480" y="3136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SACR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188720" y="313639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Secrets Age Compliance 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577840" y="31363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≥ 95%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406640" y="3191256"/>
            <a:ext cx="342900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795260" y="31363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20040" y="3602736"/>
            <a:ext cx="8503920" cy="5212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11480" y="371246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88720" y="3712464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Deployment Signing Coverage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577840" y="37124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406640" y="3767328"/>
            <a:ext cx="205740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658100" y="371246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20040" y="4178808"/>
            <a:ext cx="8503920" cy="521208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11480" y="428853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188720" y="428853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Identity Drift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577840" y="428853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0 discrepancies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406640" y="4343400"/>
            <a:ext cx="137160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7589520" y="428853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GQI (Governance Quality Index) = Weighted composite of all six indicators  |  Scale: 0–100  |  Reviewed monthly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20040" y="960120"/>
            <a:ext cx="278892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93192" y="100584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CC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8CC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868680" y="10058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68680" y="12984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Months 1–3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20040" y="1600200"/>
            <a:ext cx="2788920" cy="3246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29768" y="1691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Governance maturity 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29768" y="22860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Inventory all secrets &amp; service accounts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29768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Deploy centralized secrets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29768" y="3474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Form cross-functional Governance Working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29768" y="40690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Define initial RBAC roles for CI/CD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246120" y="960120"/>
            <a:ext cx="278892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319272" y="100584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CC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8CC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794760" y="10058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794760" y="12984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Months 4–6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246120" y="1600200"/>
            <a:ext cx="2788920" cy="3246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3355848" y="1691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Introduce policy-as-code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355848" y="22860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Propose automated audit logging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355848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Introduce pipeline enforcement gates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(CI + CD)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355848" y="3474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Define sprint-level governance dashboards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355848" y="40690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Onboard engineering teams to GQI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172200" y="960120"/>
            <a:ext cx="2788920" cy="6400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245352" y="100584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CC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8CC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720840" y="10058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 Improvement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720840" y="12984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DDFF"/>
                </a:solidFill>
                <a:latin typeface="Calibri"/>
                <a:ea typeface="Calibri"/>
                <a:cs typeface="Calibri"/>
                <a:sym typeface="Calibri"/>
              </a:rPr>
              <a:t>Months 7–12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172200" y="1600200"/>
            <a:ext cx="2788920" cy="3246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281928" y="1691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Quarterly governance board GQI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81928" y="22860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Automated identity lifecycle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281928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Expand policy library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281928" y="3474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Controlled red-team exercises to assess detection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281928" y="40690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Target: GQI ≥ 85 by month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 &amp; 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20040" y="960120"/>
            <a:ext cx="4206240" cy="3840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11480" y="10058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20040" y="1344168"/>
            <a:ext cx="4206240" cy="2560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11480" y="143560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Governance controls as versioned code — aligns with existing engineering culture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11480" y="20299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Automated metric collection may reduce manual measurement overhead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11480" y="262432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phased roadmap may help organizations realize early benefits before full adoption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11480" y="321868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663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Dual-purpose artifacts serve both engineering and compliance stakeholders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754880" y="10058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663440" y="1344168"/>
            <a:ext cx="4206240" cy="25603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754880" y="143560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 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Requires minimum DevOps maturity — not suitable for fully manual delivery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754880" y="20299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 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GQI composite may obscure poor performance on individual metrics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754880" y="262432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 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Organizational change management dimension is underspecified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754880" y="321868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 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Sector-specific calibration needed for financial services, healthcare, public sector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20040" y="4069080"/>
            <a:ext cx="850392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CC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8CCFF"/>
                </a:solidFill>
                <a:latin typeface="Calibri"/>
                <a:ea typeface="Calibri"/>
                <a:cs typeface="Calibri"/>
                <a:sym typeface="Calibri"/>
              </a:rPr>
              <a:t>Cross-Industry Applicability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The modular architecture enables sector-specific compliance rules (GDPR, PCI DSS, HIPAA) to be expressed as additional policy-as-code layers without restructuring the framework foundations.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2286000" y="850392"/>
            <a:ext cx="45720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60120" y="98755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Embedding governance into the delivery pipeline may improve reliability and audit readiness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960120" y="1792224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Identity and secrets management may serve as a practical entry point for governance in cloud-native environments</a:t>
            </a:r>
            <a:endParaRPr sz="1300">
              <a:solidFill>
                <a:srgbClr val="DDEE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57200" y="2615184"/>
            <a:ext cx="36576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457200" y="26151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960120" y="2596896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Prior research suggests that policy-as-code can reduce policy drift and shorten audit evidence collection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3419856"/>
            <a:ext cx="36576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457200" y="34198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960120" y="3401568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The proposed GQI model is intended to provide a sprint-level quality signal for engineering and compliance stakeholders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65760" y="4297680"/>
            <a:ext cx="84124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B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BBEE"/>
                </a:solidFill>
                <a:latin typeface="Calibri"/>
                <a:ea typeface="Calibri"/>
                <a:cs typeface="Calibri"/>
                <a:sym typeface="Calibri"/>
              </a:rPr>
              <a:t>Future Work: Empirical validation in production environments · AI-assisted anomaly detection · Change management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